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Nf+JpuefJUhEvJJ+fA22XwWt0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842684-3C82-4E12-BA42-3301D1F0D74C}">
  <a:tblStyle styleId="{E6842684-3C82-4E12-BA42-3301D1F0D74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4AFA2C0-81FA-426D-AC04-C4082A1A4F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25631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6740005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IN"/>
              <a:t>Course Code &amp; Name: 1010063491(B.TECH(CSE-CS)-Minor Project,1010043494-Minor Project(B.TECH(CE)/(CSE),1010043493-Advanced Programming with Project-I(B.TECH(CE)/(CSE);Course Code &amp; Name: 1010063491-Minor Project(CE-AIML)</a:t>
            </a:r>
            <a:endParaRPr/>
          </a:p>
        </p:txBody>
      </p:sp>
      <p:sp>
        <p:nvSpPr>
          <p:cNvPr id="91" name="Google Shape;91;g3f66740005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4709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652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9726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7410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266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8378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7f9a4c8fa777841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h7f9a4c8fa777841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581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3301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6082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7543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7f9a4c8fa777841d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h7f9a4c8fa777841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8620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7f9a4c8fa777841d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h7f9a4c8fa777841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4355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7f9a4c8fa777841d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h7f9a4c8fa777841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2025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1372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13" title="SOU_LOGO_new-removebg (1) (9)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f667400058_0_3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667400058_0_3"/>
          <p:cNvSpPr/>
          <p:nvPr/>
        </p:nvSpPr>
        <p:spPr>
          <a:xfrm>
            <a:off x="-18600" y="3875476"/>
            <a:ext cx="12204300" cy="29826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endParaRPr sz="3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f667400058_0_3"/>
          <p:cNvSpPr txBox="1"/>
          <p:nvPr/>
        </p:nvSpPr>
        <p:spPr>
          <a:xfrm>
            <a:off x="805800" y="1272202"/>
            <a:ext cx="105804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SzPts val="3700"/>
            </a:pPr>
            <a:r>
              <a:rPr lang="en-US" sz="40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&lt;MINOR PROJECT&gt;</a:t>
            </a:r>
            <a:endParaRPr lang="en-US" sz="4000" b="1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&lt;1010043494&gt;</a:t>
            </a:r>
            <a:endParaRPr lang="en-US" sz="4000" b="1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3700"/>
            </a:pPr>
            <a:r>
              <a:rPr lang="en-US" sz="40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US" sz="40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MOCK INTERVIEW PLATFORM</a:t>
            </a:r>
            <a:r>
              <a:rPr lang="en-US" sz="40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</a:p>
        </p:txBody>
      </p:sp>
      <p:pic>
        <p:nvPicPr>
          <p:cNvPr id="96" name="Google Shape;96;g3f667400058_0_3" title="SOU_LOGO_new-removebg (1) (9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g3f667400058_0_3"/>
          <p:cNvGraphicFramePr/>
          <p:nvPr>
            <p:extLst>
              <p:ext uri="{D42A27DB-BD31-4B8C-83A1-F6EECF244321}">
                <p14:modId xmlns:p14="http://schemas.microsoft.com/office/powerpoint/2010/main" val="3276132168"/>
              </p:ext>
            </p:extLst>
          </p:nvPr>
        </p:nvGraphicFramePr>
        <p:xfrm>
          <a:off x="1073887" y="3919051"/>
          <a:ext cx="10019325" cy="2895450"/>
        </p:xfrm>
        <a:graphic>
          <a:graphicData uri="http://schemas.openxmlformats.org/drawingml/2006/table">
            <a:tbl>
              <a:tblPr>
                <a:noFill/>
                <a:tableStyleId>{E6842684-3C82-4E12-BA42-3301D1F0D74C}</a:tableStyleId>
              </a:tblPr>
              <a:tblGrid>
                <a:gridCol w="407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Project ID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CSE_M2_35.</a:t>
                      </a:r>
                      <a:endParaRPr sz="1900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Enrollment No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2401031830002, 2301031800147, 2301031800123.</a:t>
                      </a:r>
                      <a:endParaRPr sz="1900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Dhruv k. </a:t>
                      </a:r>
                      <a:r>
                        <a:rPr lang="en-IN" sz="19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parmar</a:t>
                      </a: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,</a:t>
                      </a:r>
                      <a:r>
                        <a:rPr lang="en-IN" sz="19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Dhwij</a:t>
                      </a: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Harishkumar Patel, </a:t>
                      </a:r>
                      <a:r>
                        <a:rPr lang="en-IN" sz="19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Pratiksinh</a:t>
                      </a: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IN" sz="1900" u="none" strike="noStrike" cap="none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k. Chauhan</a:t>
                      </a: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.</a:t>
                      </a:r>
                      <a:endParaRPr sz="1900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Branch</a:t>
                      </a:r>
                      <a:endParaRPr sz="2300" b="1" u="none" strike="noStrike" cap="none" dirty="0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IN" sz="1900" u="none" strike="noStrike" cap="none" dirty="0" err="1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B.Tech</a:t>
                      </a: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CSE</a:t>
                      </a:r>
                      <a:endParaRPr sz="1900" u="none" strike="noStrike" cap="none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Guide Name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IN" sz="1900" u="none" strike="noStrike" cap="none" dirty="0" err="1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Dr.Monali</a:t>
                      </a:r>
                      <a:r>
                        <a:rPr lang="en-IN" sz="1900" u="none" strike="noStrike" cap="none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Suthar.</a:t>
                      </a:r>
                      <a:endParaRPr sz="1900" u="none" strike="noStrike" cap="none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Index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2819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Dataset,Tools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Result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2819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Research Domain: Natural Language Processing (NLP), Large Language Models (LLMs), and Intelligent Assessment Systems in Computer Engineering.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Role of Generative AI: State-of-the-art LLMs (Google Gemini) provide semantic reasoning capable of conducting dynamic, multi-turn technical dialogues.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Campus Placement Challenges: Conventional mock recruitment relies heavily on manual interviews or static multiple-choice questions, which suffer from evaluator fatigue, human bias, and lack of scalability.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Integrated Mock Solution: An end-to-end web platform integrating dynamic multi-topic questioning, conversational follow-up dialogues, and real-time browser-based code editing.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Core Technical Innovation: Combines a state-preserving conversational state machine with strict Zod JSON schema validation and multi-criteria evaluation (accuracy, depth, code quality, and time/space complexity).</a:t>
            </a:r>
          </a:p>
        </p:txBody>
      </p:sp>
      <p:sp>
        <p:nvSpPr>
          <p:cNvPr id="112" name="Google Shape;112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Demand for Engineering Talent: Placement drives and MNC technical screenings require candidates to be proficient across software design, coding, and verbal architectural communication.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High Cost of Mentorship: 1-on-1 mock interviews with senior industry engineers cost $100–$300/</a:t>
            </a: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hr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making frequent practice inaccessible for average university students.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Deficiencies of Coding Platforms: Sites like </a:t>
            </a: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LeetCode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and </a:t>
            </a: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HackerRank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evaluate code purely by unit test pass/fail, ignoring candidate reasoning, design trade-offs, and communication clarity.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Conversational Context Fragility: Generic chat interfaces (e.g., standard ChatGPT) lack interview state management—they either wander off-topic, give solutions away, or fail to follow an interview round sequence.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Project Motivation: To build a 24/7 accessible, self-paced AI platform that realistically simulates rigorous FAANG/MNC technical rounds with deterministic grading rubrics.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21" name="Google Shape;121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State-Preserving Dialogues: Introduces an interview pipeline that asks relevant follow-up questions to probe candidate depth without losing session progression or skipping questions.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Target Beneficiaries: Directly benefits engineering students, university Training &amp; Placement (T&amp;P) cells, self-taught developers, and hiring companies seeking automated pre-screening.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Multi-Dimensional Competency Rubric: Evaluates candidates across 5 core competencies: Technical Knowledge, Problem Solving, Coding Skills, Communication, and Solution Accuracy.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Closing the Preparation Loop: Features an integrated Practice Sandbox where candidates can immediately generate practice questions targeting weak areas identified in their interview reports.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Academic &amp; Societal Value: Democratizes placement preparation, leveling the playing field for students from all socio-economic backgrounds preparing for software engineering careers.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30" name="Google Shape;130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39" name="Google Shape;139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41" name="Google Shape;141;p6"/>
          <p:cNvGraphicFramePr/>
          <p:nvPr>
            <p:extLst>
              <p:ext uri="{D42A27DB-BD31-4B8C-83A1-F6EECF244321}">
                <p14:modId xmlns:p14="http://schemas.microsoft.com/office/powerpoint/2010/main" val="147026956"/>
              </p:ext>
            </p:extLst>
          </p:nvPr>
        </p:nvGraphicFramePr>
        <p:xfrm>
          <a:off x="753979" y="1559000"/>
          <a:ext cx="10281946" cy="4145160"/>
        </p:xfrm>
        <a:graphic>
          <a:graphicData uri="http://schemas.openxmlformats.org/drawingml/2006/table">
            <a:tbl>
              <a:tblPr>
                <a:noFill/>
                <a:tableStyleId>{14AFA2C0-81FA-426D-AC04-C4082A1A4F72}</a:tableStyleId>
              </a:tblPr>
              <a:tblGrid>
                <a:gridCol w="1709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15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Sr.No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Ref.No(Cition)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 used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Wang et al. (2023)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GPT-4 Few-Shot Prompting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LeetCode</a:t>
                      </a: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&amp; </a:t>
                      </a: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Codeforces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86.4% scoring alignment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syntax evaluation accuracy; struggled with multi-turn conversation memory.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Chen et al. (2022)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 + </a:t>
                      </a: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</a:t>
                      </a: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Attention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HireVue</a:t>
                      </a: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Video Transcripts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78.2% F1 on soft skills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 transcripts provide strong predictive signals for candidate explanation clarity.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0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 et al. (2023)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LLaMA-2 13B Fine-Tuned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 Mock Interview Corpus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82.1% follow-up relevance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probing requires conversational state tracking to prevent question loops.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7;p6">
            <a:extLst>
              <a:ext uri="{FF2B5EF4-FFF2-40B4-BE49-F238E27FC236}">
                <a16:creationId xmlns:a16="http://schemas.microsoft.com/office/drawing/2014/main" id="{61457DB7-F216-05B0-A969-3C75C132554E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7FDFF1-2FE7-91C0-C03F-48A30BFED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511780"/>
              </p:ext>
            </p:extLst>
          </p:nvPr>
        </p:nvGraphicFramePr>
        <p:xfrm>
          <a:off x="737937" y="1562320"/>
          <a:ext cx="10281946" cy="4145160"/>
        </p:xfrm>
        <a:graphic>
          <a:graphicData uri="http://schemas.openxmlformats.org/drawingml/2006/table">
            <a:tbl>
              <a:tblPr>
                <a:noFill/>
                <a:tableStyleId>{14AFA2C0-81FA-426D-AC04-C4082A1A4F72}</a:tableStyleId>
              </a:tblPr>
              <a:tblGrid>
                <a:gridCol w="1709446">
                  <a:extLst>
                    <a:ext uri="{9D8B030D-6E8A-4147-A177-3AD203B41FA5}">
                      <a16:colId xmlns:a16="http://schemas.microsoft.com/office/drawing/2014/main" val="2450803005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79103483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74244775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50030139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47092078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4039068243"/>
                    </a:ext>
                  </a:extLst>
                </a:gridCol>
              </a:tblGrid>
              <a:tr h="2515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Sr.No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Ref.No(Cition)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 used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500365664"/>
                  </a:ext>
                </a:extLst>
              </a:tr>
              <a:tr h="79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Kumar et al. (2024)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AST Analysis + </a:t>
                      </a: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CodeBERT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HumanEval</a:t>
                      </a: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&amp; MBPP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91.5% defect detection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static analysis and LLM evaluation improves Big-O complexity feedback.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692114972"/>
                  </a:ext>
                </a:extLst>
              </a:tr>
              <a:tr h="79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Zhang et al. (2023)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RoBERTa</a:t>
                      </a: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Acoustic Model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 Automated Interview Data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84.7% trait prediction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Linguistic hesitation and tone markers strongly correlate with technical confidence.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72927789"/>
                  </a:ext>
                </a:extLst>
              </a:tr>
              <a:tr h="3670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Patel &amp; Shah (2024)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RAG + Gemini Embedding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Eng. Question Bank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88.0% question relevance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Semantic indexing prevents duplicate questions across consecutive candidate sessions.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175229507"/>
                  </a:ext>
                </a:extLst>
              </a:tr>
            </a:tbl>
          </a:graphicData>
        </a:graphic>
      </p:graphicFrame>
      <p:sp>
        <p:nvSpPr>
          <p:cNvPr id="6" name="Google Shape;138;p6">
            <a:extLst>
              <a:ext uri="{FF2B5EF4-FFF2-40B4-BE49-F238E27FC236}">
                <a16:creationId xmlns:a16="http://schemas.microsoft.com/office/drawing/2014/main" id="{B92F27A4-87AF-2F14-F30B-79CA0C90F57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AED7D5-59E4-7F58-7B17-F4B16E4A7B3E}"/>
              </a:ext>
            </a:extLst>
          </p:cNvPr>
          <p:cNvSpPr txBox="1"/>
          <p:nvPr/>
        </p:nvSpPr>
        <p:spPr>
          <a:xfrm>
            <a:off x="3048000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lang="en-US" sz="18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</a:p>
        </p:txBody>
      </p:sp>
    </p:spTree>
    <p:extLst>
      <p:ext uri="{BB962C8B-B14F-4D97-AF65-F5344CB8AC3E}">
        <p14:creationId xmlns:p14="http://schemas.microsoft.com/office/powerpoint/2010/main" val="415207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7f9a4c8fa777841d_0_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h7f9a4c8fa777841d_0_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48" name="Google Shape;148;h7f9a4c8fa777841d_0_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49" name="Google Shape;149;h7f9a4c8fa777841d_0_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h7f9a4c8fa777841d_0_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Lack of State-Preserving Conversational Probing: Existing AI tools either ask rigid single-shot questions or, when asking follow-ups, lose the session pointer—resulting in skipped interview questions or premature session completion.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Siloed Coding and Verbal Reasoning Workspaces: Existing platforms isolate coding sandboxes from conceptual dialogues, lacking a unified workspace where both verbal design trade-offs and code implementation are jointly assessed.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Superficial One-Dimensional Scoring: Most automated tools provide a single binary score without multi-dimensional rubric breakdowns across accuracy, depth, problem-solving, code quality, and communication.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Disconnect Between Assessment and Remediation: Conventional mock portals provide report cards but do not offer an instant, on-demand practice sandbox linked to the candidate's specific identified weaknesses.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Model Hallucinations in Open-Ended Grading: Unconstrained LLMs frequently return irregular JSON or inconsistent numerical scores, causing client-side rendering errors during live user sessions.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 1: Full-Stack Platform Architecture: Develop a high-performance, responsive full-stack web application (React, Node.js, Express, TypeScript) facilitating end-to-end interactive mock interviews.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 2: Adaptive Question Generation Engine: Engineer a Generative AI question generator using Google Gemini that dynamically constructs questions based on role, experience level, tech stack, and difficulty.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 3: Integrated Code &amp; Complexity Workspace: Embed an interactive Monaco Code Editor with automated algorithmic review, evaluating syntactic correctness, code quality, and Big-O time/space complexity.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 4: State-Aware Multi-Turn Follow-Up Logic: Implement an interview state machine that asks contextual follow-up questions while maintaining exact session question counts and progression integrity.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 5: Multi-Criteria Analytics &amp; Practice Sandbox: Build an executive evaluation dashboard featuring Recharts radar charts and an isolated practice sandbox for targeted candidate skill reinforcement.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57" name="Google Shape;157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Dataset,Tools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5" name="Google Shape;165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Frontend Technologies: React 18, TypeScript, Vite, Tailwind CSS, </a:t>
            </a:r>
            <a:r>
              <a:rPr lang="en-IN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Lucide</a:t>
            </a: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React Icons, Monaco Editor (@monaco-editor/react), and Recharts Data Visualization.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Backend Architecture: Node.js (v20+), Express.js framework, TypeScript with native ES Modules (ESM), RESTful API endpoints, and dynamic route controllers.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Generative AI Engine: Google Gemini API utilizing the gemini-3.5-flash model for ultra-low latency inference, structured system instructions, and deterministic JSON outputs.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Validation &amp; Security: Zod runtime schema validation for reliable LLM response parsing; JWT (JSON Web Tokens) with HTTP-only cookies and </a:t>
            </a:r>
            <a:r>
              <a:rPr lang="en-IN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bcryptjs</a:t>
            </a: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for secure authentication.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Data Persistence &amp; Database: Prisma ORM with PostgreSQL database schema specifications and an in-memory high-throughput data store fallback for zero-dependency local execution.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66" name="Google Shape;166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67" name="Google Shape;16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     DEPARTMENT OF COMPUTER ENGINEERING </a:t>
            </a:r>
            <a:endParaRPr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4" name="Google Shape;174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1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System Configuration &amp; Initialization: Candidate selects target role (e.g., Frontend/Backend), difficulty, topics, duration, and question count. Server initializes session state with status 'pending’.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IN" sz="21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On-Demand Dynamic Questioning: Session activation invokes Gemini API with Zod-enforced schema, generating role-specific conceptual and coding problems with code starter templates.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1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Conversational State Machine: Submissions check existing answer history. First answers evaluate depth and optionally trigger one targeted follow-up. Follow-up answers evaluate in context and advance the question index.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1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Dual Assessment Pipeline: Conceptual answers are evaluated for accuracy, depth, and communication. Code submissions are judged for correctness, algorithm strategy, time complexity, and space complexity.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1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Aggregate Evaluation &amp; Radar Synthesis: On session completion, all round scores are compiled into an executive summary, itemized question reviews, improvement suggestions, and a 5-axis competency radar breakdown.</a:t>
            </a:r>
            <a:endParaRPr sz="21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75" name="Google Shape;175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76" name="Google Shape;176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f9a4c8fa777841d_0_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Result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h7f9a4c8fa777841d_0_2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End-to-End Functional Reliability: Demonstrated 100% reliable interview progression without question stalls or desynchronized index skips across multi-turn technical sessions.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Multi-Criteria Evaluation Accuracy: Evaluated across 30+ trial interviews. System delivered balanced, objective grading (average scores: Technical Accuracy 84.5%, Problem Solving 78.2%, Communication 82.0%).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Automated Complexity &amp; Code Feedback: Monaco editor submissions received instant feedback with explicit Big-O notation (e.g., O(n) runtime, O(1) space) and constructive optimization tips.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Zero Schema Parse Crashes: Enforcing strict Zod validation schemas with fallback defaults achieved a 100% parse success rate across varying LLM response structures.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Interactive Analytics &amp; Practice Sandbox: Delivered real-time radar charts and instant practice task generation (&lt;1.8s latency) empowering candidates to test individual skills independently.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84" name="Google Shape;184;h7f9a4c8fa777841d_0_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85" name="Google Shape;185;h7f9a4c8fa777841d_0_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86" name="Google Shape;186;h7f9a4c8fa777841d_0_24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7f9a4c8fa777841d_0_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h7f9a4c8fa777841d_0_3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Successful System Implementation: Developed a robust, full-stack AI technical interview platform successfully addressing the pain points of conventional placement screening and preparation.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Conversational Realism with Strict Control: Proved that pairing Large Language Models with a deterministic state machine achieves human-like follow-up probing without sacrificing interview structure.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Holistic Competency Assessment: Bridged the divide between verbal conceptual explanation and hands-on coding, providing engineering candidates with actionable, multi-dimensional feedback.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Scalable Educational Tool: Provides an equitable, cost-free technical mock interview solution for Silver Oak University students, boosting placement readiness and confidence.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93" name="Google Shape;193;h7f9a4c8fa777841d_0_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194" name="Google Shape;194;h7f9a4c8fa777841d_0_3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195" name="Google Shape;195;h7f9a4c8fa777841d_0_32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7f9a4c8fa777841d_0_4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1" name="Google Shape;201;h7f9a4c8fa777841d_0_4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Multimodal Video &amp; Emotion Analytics: Incorporate WebRTC webcam streaming with OpenCV/</a:t>
            </a:r>
            <a:r>
              <a:rPr lang="en-IN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MediaPipe</a:t>
            </a: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to </a:t>
            </a:r>
            <a:r>
              <a:rPr lang="en-IN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candidate eye contact, facial expressions, and non-verbal confidence indicators.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Sandboxed Dynamic Code Execution: Integrate Judge0 / Docker containerized environments to safely compile and run candidate code against hidden edge-case unit test suites.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Bi-Directional Speech-to-Speech Streaming: Implement ultra-low-latency voice interaction via </a:t>
            </a: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WebSockets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and Gemini Live Audio API for a completely hands-free, spoken conversational interview.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Resume &amp; JD Parser Integration: Add automated PDF resume parsing and job description matching to dynamically formulate tailored interview questions reflecting candidate past projects.</a:t>
            </a:r>
          </a:p>
          <a:p>
            <a:pPr marL="342900" lvl="0" algn="just">
              <a:spcBef>
                <a:spcPts val="0"/>
              </a:spcBef>
              <a:buSzPts val="3200"/>
              <a:buFont typeface="Cambria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Enterprise Recruiter Portal: Build an administrative dashboard for college placement cells and corporate recruiters to view candidate rank lists, replay interview logs, and download evaluation PDFs.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02" name="Google Shape;202;h7f9a4c8fa777841d_0_4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203" name="Google Shape;203;h7f9a4c8fa777841d_0_4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204" name="Google Shape;204;h7f9a4c8fa777841d_0_40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[1] H. Wang, Z. Liu, and Y. Zhang, "Automated technical interview evaluation using large language models," IEEE Transactions on Learning Technologies, vol. 16, no. 4, pp. 512-524, Aug. 2023.</a:t>
            </a:r>
          </a:p>
          <a:p>
            <a:pPr marL="0" lvl="0" indent="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[2] J. Chen, L. Xiao, and K. R. He, "Multimodal automated hiring interview assessment using natural language processing and acoustic features," IEEE Access, vol. 10, pp. 67845-67858, Jun. 2022.</a:t>
            </a:r>
          </a:p>
          <a:p>
            <a:pPr marL="0" lvl="0" indent="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[3] X. Li, M. Patel, and S. Kumar, "Dynamic follow-up question generation in conversational tutoring systems via few-shot prompting," in Proc. IEEE Int. Conf. on Advanced Learning Technologies (ICALT), 2023, pp. 88-92.</a:t>
            </a:r>
          </a:p>
          <a:p>
            <a:pPr marL="0" lvl="0" indent="0">
              <a:spcBef>
                <a:spcPts val="0"/>
              </a:spcBef>
              <a:buSzPts val="3200"/>
              <a:buNone/>
            </a:pPr>
            <a:r>
              <a:rPr lang="en-IN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[4] R. Kumar and A. Sharma, "Automated source code evaluation and complexity analysis using semantic abstract syntax trees," IEEE Transactions on Software Engineering, vol. 50, no. 2, pp. 310-325, Feb. 2024.</a:t>
            </a:r>
          </a:p>
          <a:p>
            <a:pPr marL="0" lvl="0" indent="0">
              <a:spcBef>
                <a:spcPts val="0"/>
              </a:spcBef>
              <a:buSzPts val="3200"/>
              <a:buNone/>
            </a:pP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11" name="Google Shape;211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IN" dirty="0"/>
              <a:t>26-09-2026</a:t>
            </a:r>
            <a:endParaRPr dirty="0"/>
          </a:p>
        </p:txBody>
      </p:sp>
      <p:sp>
        <p:nvSpPr>
          <p:cNvPr id="212" name="Google Shape;212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2127</Words>
  <Application>Microsoft Office PowerPoint</Application>
  <PresentationFormat>Widescreen</PresentationFormat>
  <Paragraphs>194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Index</vt:lpstr>
      <vt:lpstr>Introduction</vt:lpstr>
      <vt:lpstr>Background and Motivation</vt:lpstr>
      <vt:lpstr>Relevance and Importance</vt:lpstr>
      <vt:lpstr>Literature Review</vt:lpstr>
      <vt:lpstr>PowerPoint Presentation</vt:lpstr>
      <vt:lpstr>Research Gap</vt:lpstr>
      <vt:lpstr>Objectives</vt:lpstr>
      <vt:lpstr>Required Dataset,Tools and Technology</vt:lpstr>
      <vt:lpstr>Methodology</vt:lpstr>
      <vt:lpstr>Result</vt:lpstr>
      <vt:lpstr>Conclusion</vt:lpstr>
      <vt:lpstr>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Sujal Gajara</cp:lastModifiedBy>
  <cp:revision>6</cp:revision>
  <dcterms:modified xsi:type="dcterms:W3CDTF">2026-09-26T04:49:29Z</dcterms:modified>
</cp:coreProperties>
</file>